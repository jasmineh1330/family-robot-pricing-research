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售价/收费（万元）</c:v>
                </c:pt>
              </c:strCache>
            </c:strRef>
          </c:tx>
          <c:spPr>
            <a:solidFill>
              <a:srgbClr val="8FA3C8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2A2A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扫地机入门</c:v>
                  </c:pt>
                  <c:pt idx="1">
                    <c:v>扫地机旗舰</c:v>
                  </c:pt>
                  <c:pt idx="2">
                    <c:v>宇树 R1</c:v>
                  </c:pt>
                  <c:pt idx="3">
                    <c:v>宇树 G1</c:v>
                  </c:pt>
                  <c:pt idx="4">
                    <c:v>Optimus 目标价*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0.55</c:v>
                </c:pt>
                <c:pt idx="2">
                  <c:v>2.99</c:v>
                </c:pt>
                <c:pt idx="3">
                  <c:v>9.9</c:v>
                </c:pt>
                <c:pt idx="4">
                  <c:v>18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300" u="none">
                  <a:solidFill>
                    <a:srgbClr val="2A2A2A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2A2A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万元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194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家庭月支出（元/月）</c:v>
                </c:pt>
              </c:strCache>
            </c:strRef>
          </c:tx>
          <c:spPr>
            <a:solidFill>
              <a:srgbClr val="8FA3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2A2A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扫地机摊销</c:v>
                  </c:pt>
                  <c:pt idx="1">
                    <c:v>自变量服务</c:v>
                  </c:pt>
                  <c:pt idx="2">
                    <c:v>机器人月租</c:v>
                  </c:pt>
                  <c:pt idx="3">
                    <c:v>家政阿姨包月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417</c:v>
                </c:pt>
                <c:pt idx="1">
                  <c:v>596</c:v>
                </c:pt>
                <c:pt idx="2">
                  <c:v>1137</c:v>
                </c:pt>
                <c:pt idx="3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A2A2A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2A2A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194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微软雅黑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微软雅黑"/>
              </a:rPr>
              <a:t>整机成本结构（%）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整机成本结构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44"/>
              </a:solidFill>
              <a:effectLst/>
            </c:spPr>
          </c:dPt>
          <c:dPt>
            <c:idx val="1"/>
            <c:bubble3D val="0"/>
            <c:spPr>
              <a:solidFill>
                <a:srgbClr val="3D5A99"/>
              </a:solidFill>
              <a:effectLst/>
            </c:spPr>
          </c:dPt>
          <c:dPt>
            <c:idx val="2"/>
            <c:bubble3D val="0"/>
            <c:spPr>
              <a:solidFill>
                <a:srgbClr val="8FA3C8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执行器总成</c:v>
                </c:pt>
                <c:pt idx="1">
                  <c:v>伺服控制</c:v>
                </c:pt>
                <c:pt idx="2">
                  <c:v>控制器</c:v>
                </c:pt>
                <c:pt idx="3">
                  <c:v>其他（结构/传感器等）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10</c:v>
                </c:pt>
                <c:pt idx="3">
                  <c:v>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A2A2A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封面教学：面试自我介绍时用 30 秒讲清“我自己做了什么”：我先说结论（一句话），再说方法（对标—测算—访谈），最后说“数据都能给出处”。标题不要写“调研报告”，写“研究”，并且把“定价”放进标题，因为这是 JD 里最难的职责。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这一页回答“为什么值得研究”。每条事实都要能给出处。最后一行“我研究的问题”必须自己写——面试官最讨厌只有背景没有问题意识。参考写法：家庭服务机器人到底该怎么定价、首批家庭愿意为什么付钱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教学：把方法讲清楚比数据多更重要。口头讲述：先对标知道“市场上有什么、卖多少钱”，再测算回答“为什么是这个价、能不能挣”，最后访谈验证“家庭买不买账”。三步正好对应 GTM 岗位 JD 里的市场洞察、定价测算、用户访谈三条职责。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教学：表格只是弹药库，面试讲的是“判断”。三行示例告诉你标准：每一格都是“事实+口径”，来源写在页脚。剩下几行自己填，填完把“格局判断”写成一句话——判断才是这页的主角。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图表要“先说结论再看图”。橙色柱是关键参照系——家庭为清洁付过费的成熟价格带。面试常问“你家机器人卖多少钱”：别拍脑袋，用这张图回答“高于扫地机旗舰是合理溢价、低于宇树才可能走量，具体取决于第一批产品做到什么任务”。数字来自 Excel 模板 Sheet2 的锚点区。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教学：这是全片最能“凸显优势”的一页，但要讲得诚实。左边：三种进家方式里服务按次是月支出最低的机器人方案（扫地机更便宜但只清洁）；右边：为什么硬件贵——执行器占 1/3。被追问“596 元/月怎么来的”：“每周一次 149 元，月均约 4.3 次乘出来；口径和假设都写在页脚和 Excel 里，可以改。”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教学：这是整份研究的“商业洞察页”。FSD 从买断转订阅是必引案例——它说明强能力公司也在把一次性收入换成持续收入。面试口头版：“短期卖服务攒数据，中期硬件+订阅组合，这是我对自变量定价路径的判断，依据是这三列的对照。”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教学：这一页是你和所有“背资料”候选人的分水岭。每个数字都要会现场推导：BOM 上限=售价×(1−渠道费率−毛利率)；月租金=(设备价×(1−残值)/租期+资金成本+运维)/(1−毛利率)。被挑战时回答：“这是默认假设的结果，假设可以聊，公式是对的。”服务毛贡献打平略正是本次研究最有意思的发现——它解释了为什么自变量先做服务：单位经济能自洽但撑不起增长，本质是数据/口碑投资，盈利要靠规模化后的提效与订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教学：好建议的模板=“结论+数字+边界”。反例：“定价需要综合考虑多方因素”（等于没说）。参考句式：“首批家庭建议免费+押金换使用数据与每周回访，成本约 X 万，对照的是 UGC 种子用户打法；规模化后硬件贴近 BOM 定价+订阅赚利润，因为测算显示订阅 LTV 目前养不起硬件补贴。”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教学：访谈不是聊天，是“带假设去验证”。四个模块从行为到价格层层递进；价格永远放最后，且用价格锚测试（给出 1 万/999 月租/299 订阅三选一的反应），绝不问“你愿意花多少钱”。做完 3 户就可以先写发现，边做边改提纲。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教学：收尾把研究和岗位画上等号——这正是自变量 GTM 实习生 JD 的四条职责。面试最后一句话术：“这就是我为这份工作做的预习，四样产出今天都带来了。”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个人研究项目 · 2026 年 9 月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家庭服务机器人</a:t>
            </a:r>
            <a:endParaRPr lang="en-US" sz="4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上市与定价模式研究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4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竞品对标 · 定价测算 · 首批体验家庭访谈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黄川 ｜ 香港城市大学 数学与统计硕士（2027 届）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背景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资本在热跑，家庭场景刚刚开闸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3–4 月，自变量机器人近 20 亿元 B 轮（小米战投、红杉联合领投），成为国内唯一集齐美团/阿里/字节/小米投资的具身智能公司，估值超 200 亿。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4 月，自变量宣布机器人正式“进家上岗”，与 58 到家合作推出“机器人+阿姨”人机协同上门保洁，单次 149 元。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与此同时，人形硬件价格急降：宇树机器人均价从 2023 年 59.3 万降至 2025 年约 16.8 万。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所以我研究的问题是：家庭服务机器人到底该怎么定价？首批家庭愿意为什么付钱？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5544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 亿+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自变量机器人 B 轮后估值（2026.4）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374904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59万→17万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72400" y="4937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宇树人形均价 2023→2025（元/台）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来源：新浪财经 2026-04、深圳新闻网 2026-04-22、财联社；核实于 2026-09-05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三步研究框架：对标 → 测算 → 验证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2011680"/>
            <a:ext cx="603504" cy="603504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竞品对标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形态 / 价位 / 交互 / 商业模式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产出：对标表（10+ 家）+ 3 条格局判断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工具：Excel 对标表模板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77640" y="3474720"/>
            <a:ext cx="384048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89120" y="173736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603504" cy="603504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6344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定价测算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66344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买断 / 租赁 / 订阅 / 服务单次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产出：四种模式的单位经济账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工具：Excel 定价测算模板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09560" y="3474720"/>
            <a:ext cx="384048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321040" y="1737360"/>
            <a:ext cx="3474720" cy="3566160"/>
          </a:xfrm>
          <a:prstGeom prst="roundRect">
            <a:avLst>
              <a:gd name="adj" fmla="val 2632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595360" y="2011680"/>
            <a:ext cx="603504" cy="603504"/>
          </a:xfrm>
          <a:prstGeom prst="ellipse">
            <a:avLst/>
          </a:prstGeom>
          <a:solidFill>
            <a:srgbClr val="1F2A4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9536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9536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用户验证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59536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首批体验家庭视角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9536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产出：访谈提纲（10 问）+ 访谈发现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对象：6–8 户真实家庭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定价方法论（研报三角交叉验证）：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成本导向（BOM 反推 + 执行器占比约束）× 竞争导向（价格带锚定）× 需求导向（访谈价格锚测试）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研究周期约 5 天；全部数据带来源，见附录《数据来源清单》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竞品对标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同一条赛道上的两种玩家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2011680"/>
                <a:gridCol w="1920240"/>
                <a:gridCol w="2286000"/>
                <a:gridCol w="18562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形态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价格/收费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商业模式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落地状态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自变量机器人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双臂具身本体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家庭保洁/收纳/取物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149 元/次（服务）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与58到家合作人机协同服务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2026.4 宣布进家上岗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宇树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人形 G1/R1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科研/展演/开发者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9.9 万起 / 2.99 万起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硬件买断+开发者生态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京东开售、线下首店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石头科技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扫地机器人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家庭地面清洁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主销 2500–6000 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买断（电商+线下）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规模量产，上市公司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智元机器人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人形+轮式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交互服务/展演接待（B端）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9.8 万–45 万（买断）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硬件买断+分期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2025.8 全系开售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银河通用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轮式双臂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B端药房/无人零售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未公开（解决方案）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B端整机+运营方案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签约约100家门店，年销约150台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科沃斯/追觅/云鲸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扫地/洗地机器人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家庭清洁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旗舰 4999–5999 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买断（电商+线下）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规模量产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257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格局判断：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家庭付费只被“清洁”验证过（4000–6000 元带）；② 人形玩家的第一批付费场景全在 B 端（展演/药房/物流）；③ 自变量用“服务”第一个进家庭，但单次毛贡献约 +35 元——是数据生意，不是利润生意。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来源：各公司官网、财联社、人民网、新浪财经、深圳新闻网；核实于 2026-09-05（引用前请自行复核）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关键发现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家庭为“清洁”付过费的区间：4000–6000 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73736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09244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92440" y="23317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家庭对清洁类硬件的心理上限约 0.5–0.6 万。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人形硬件单价是这个区间的 5–30 倍。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渗透率佐证：中国扫地机渗透率 2021–2024 停在 5–6%（美国 20.5%），研报共识“价格下探”是渗透率核心驱动——低价进入是对的。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来源：宇树官网、证券时报、新浪财经、电商到手价；核实于 2026-09-05。*Optimus 为马斯克公开目标价 2–3 万美元，取中值示意（est.）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关键发现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家庭月支出对比：服务模式把进家门槛拉到千元以下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235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家庭每月为“家务”付出的钱（元/月）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132320" y="1554480"/>
          <a:ext cx="4480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两端合起来读：家庭端服务模式门槛最低（约 596 元/月，为阿姨包月的约 1/8）；成本端执行器占约 1/3——规模化取决于执行器降本。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口径：扫地机按旗舰 0.5 万元/12 个月摊销；服务按每周 1 次×149 元；月租取测算模板 B2 区假设；成本结构参考工业机器人口径（财联社）；核实 2026-09-05，假设均可在 Excel 修改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关键发现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进家庭有三条路径：卖硬件、卖服务、卖订阅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卖硬件（买断）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宇树 G1 9.9 万起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现金回流快；但家庭购买力是瓶颈，家庭场景未验证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4754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石头们：2500–6000 元证明清洁硬件能走量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45152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卖服务（按次）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45152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自变量×58到家 149 元/次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45152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家庭零门槛尝试；但服务重、单次难赚钱，本质是获客与数据手段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4754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测算见下页：单次毛贡献约 +35 元/次，只够打平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60020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77072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卖能力（订阅）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77072" y="2377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FSD 99 美元/月（中国曾 6.4 万买断，2026.2 起取消）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77072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硬件降价 + 能力订阅是行业信号；前提是能力真的持续变强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77072" y="4754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订阅该卖什么：持续学习/技能库/远程管家——能力随模型迭代，这正是订阅的合理性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来源：宇树官网、财联社（FSD 2026.2 停售买断）、品玩（自变量×58到家）；核实于 2026-09-05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定价测算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四种模式的单位经济账（默认假设下）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≤1.35 万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买断：可承受 BOM 上限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售价 3 万、毛利 30%、渠道 25% 假设下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47872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≈1137 元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47872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租赁：月租金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47872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 期、残值 20%、资金成本 8% 假设下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2784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55664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≈4306 元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55664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订阅：单用户 LTV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55664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299 元/月 × 24 个月 × 60% 毛利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80576" y="169164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63456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+35 元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363456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服务：单次毛贡献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363456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149 − 人工/调度/折旧；未含研发与获客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怎么读这四个数：</a:t>
            </a:r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买断的问题在 BOM 做不做得出来；租赁看家庭愿不愿月付四位数；订阅 LTV 养不起“硬件白送”；服务单次毛贡献约 +35 元、只够打平（还没算研发与获客）——服务是换数据与口碑的生意，不是利润生意。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全部数字由《定价测算》模板公式生成，黄色假设格可改，改完数字自动重算；假设依据见模板备注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我的建议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三个定价问题，我的回答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Q1  首批体验家庭该不该收费？——收多少、换什么？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85800" y="207568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该收，但收“低门槛承诺”而不是真价：999–1999 元可退押金（或月租 99–199 元）+ 每周回访任务——既测支付意愿，又锁住数据与口碑来源。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Q2  规模化后的定价组合是什么？硬件定多少、订阅卖什么？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344728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硬件贴近 BOM 定价（2–3 万级）走量，利润靠订阅：基础功能含在整机内，“持续学习/技能库/远程管家”订阅 99–299 元/月——FSD 2026 年全球取消买断转订阅是方向信号。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Q3  哪种模式先跑通？判断依据是哪个数字？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85800" y="481888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先跑通服务：单次毛贡献约 +35 元说明模式自洽但撑不起增长；判定指标＝提效后单次贡献转厚（日均 15 单、人工 70 元时约 66 元）且家庭月复购率过半。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以上结论为草稿——面试前务必改成自己的语言，并复核每个数字的来源。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写作要求：每条结论 ≤2 行；先给结论再给依据；数字必须能溯源到前两页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用户验证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首批体验家庭访谈：4 个模块 × 10 个问题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5743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EDF1F8"/>
          </a:solidFill>
          <a:ln w="9525">
            <a:solidFill>
              <a:srgbClr val="D8DD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A · 现状与痛点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11880" y="162763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家务分工、最头疼的事、用过什么清洁电器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B · 任务与优先级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11880" y="25603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最希望机器人做的第一/第二件事、第一天该学会什么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EDF1F8"/>
          </a:solidFill>
          <a:ln w="9525">
            <a:solidFill>
              <a:srgbClr val="D8DDE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3493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C · 信任与隐私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4930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允许进哪些房间、介意哪些数据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352544"/>
            <a:ext cx="6949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44256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 D · 价格与付费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11880" y="442569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价格锚测试（买断/月租/订阅）、免费试用换回访的意愿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0" y="155448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EDF1F8"/>
          </a:solidFill>
          <a:ln/>
          <a:effectLst>
            <a:outerShdw sx="100000" sy="100000" kx="0" ky="0" algn="bl" rotWithShape="0" blurRad="101600" dist="25400" dir="5400000">
              <a:srgbClr val="1F2A4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0100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执行参数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01000" y="219456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6–8 户真实家庭（有孩/有老人混选）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每场 30–40 分钟，录音需同意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问行为、问过去；不问“你需不需要”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状态：提纲已定稿；执行 3–6 户（待完成——至少做 3 户再谈“已验证”）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访谈完成后补充：三条关键发现（每条一个数字或一句原话）；未执行访谈前，本页只讲提纲设计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 10 问与追问话术见《零基础操作手册》第四节；招募话术见手册附注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结论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这项研究回答了什么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发现一 · 市场格局：家庭付费只被“清洁”验证过（4000–6000 元带）；人形玩家首批付费场景全在 B 端，自变量用服务第一个进家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发现二 · 定价判断：BOM 上限约 1.35 万、月租约 1137 元、订阅 LTV 约 4306 元——硬件卖不动、订阅养不活硬件补贴</a:t>
            </a:r>
            <a:endParaRPr lang="en-US" sz="16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7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发现三 · 模式路径：服务单次毛贡献约 +35 元（打平）→ 首批家庭低价/免费+回访换数据；规模化后硬件贴近成本 + 能力订阅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这项研究如何接入 GTM 工作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7D0E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对标表 → 竞品分析报告　｜　定价测算 → 定价策略调研　｜　访谈提纲 → 首批体验家庭调研　｜　测算+访谈 → 上市效果评估体系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黄川 ｜ 香港城市大学 数学与统计硕士（2027 届）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117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19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家庭服务机器人上市与定价模式研究（个人研究项目）</dc:title>
  <dc:subject>PptxGenJS Presentation</dc:subject>
  <dc:creator>黄川</dc:creator>
  <cp:lastModifiedBy>黄川</cp:lastModifiedBy>
  <cp:revision>1</cp:revision>
  <dcterms:created xsi:type="dcterms:W3CDTF">2026-09-04T20:03:39Z</dcterms:created>
  <dcterms:modified xsi:type="dcterms:W3CDTF">2026-09-04T20:03:39Z</dcterms:modified>
</cp:coreProperties>
</file>